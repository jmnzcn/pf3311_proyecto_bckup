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003865"/>
                </a:solidFill>
              </a:rPr>
              <a:t>Efecto de la visibilidad de un agente virtual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212529"/>
                </a:solidFill>
              </a:rPr>
              <a:t>Desempeño y confianza en tareas de decisión · Piloto PF-3311</a:t>
            </a:r>
          </a:p>
          <a:p>
            <a:r>
              <a:rPr sz="1600">
                <a:solidFill>
                  <a:srgbClr val="212529"/>
                </a:solidFill>
              </a:rPr>
              <a:t>Ney Fred Jiménez Campos (B03230)</a:t>
            </a:r>
          </a:p>
          <a:p>
            <a:r>
              <a:rPr sz="1600">
                <a:solidFill>
                  <a:srgbClr val="212529"/>
                </a:solidFill>
              </a:rPr>
              <a:t>UCR · Posgrado en Computación e Informática</a:t>
            </a:r>
          </a:p>
          <a:p>
            <a:r>
              <a:rPr sz="1600">
                <a:solidFill>
                  <a:srgbClr val="212529"/>
                </a:solidFill>
              </a:rPr>
              <a:t>16/06/2026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Contexto y preguntas de investigación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Prototipo Unity · condiciones A (sin agente), B (chat), C (avatar + voz).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RQ1: ¿Difieren los aciertos entre condiciones?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RQ2: ¿Difieren confianza y percepción (Unity + Forms)?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RQ3: ¿Cómo varía la calibración confianza–precisión?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Hipótesis exploratorias: C ≈ B &gt; A en precisión; mayor confianza en 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Diseño del piloto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Within-subjects: cada participante completa A, B y C (6 ítems por bloque).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Sesiones canónicas analizadas: n=6.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Completitud A+B+C: 6/6.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Confianza 1–7 por ítem (Unity); RAW-TLX y meCUE tras cada bloque.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Agente: Gemini 2.5 Flash (B/C); Azure TTS + avatar en 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Características de la muestra (Form 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El cuestionario de perfil (Google Forms, inicio de sesión) aporta contexto demográfico y de experiencia previa para 6 participante(s).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Rango de edad: 25–34 años (n=2, 33%); 18–24 años (n=1, 17%); 35–44 años (n=1, 17%); 45–54 años (n=1, 17%); 55–64 años (n=1, 17%).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Nivel educativo: Universidad completa (grado / licenciatura) (n=2, 33%); Posgrado (maestría / doctorado) (n=1, 17%); Secundaria completa (n=1, 17%); Técnico / diplomado (n=1, 17%); Universidad incompleta (n=1, 17%).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Uso de asistentes digitales: Casi todos los días (n=2, 33%); Algunas veces al mes (n=1, 17%); Algunas veces por semana (n=1, 17%); Nunca o casi nunca (n=1, 17%); Varias veces al día (n=1, 17%).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Experiencia con avatares/agentes: Algunas veces (n=2, 33%); Una o pocas veces (n=2, 33%); Con frecuencia (n=1, 17%); Nunca (n=1, 17%).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03865"/>
                </a:solidFill>
              </a:rPr>
              <a:t>RQ1 — Precisión (% aciertos)</a:t>
            </a:r>
          </a:p>
        </p:txBody>
      </p:sp>
      <p:pic>
        <p:nvPicPr>
          <p:cNvPr id="3" name="Picture 2" descr="rq1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7315200" cy="4640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A6268"/>
                </a:solidFill>
              </a:defRPr>
            </a:pPr>
            <a:r>
              <a:t>Medias grupales por condición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RQ1 — Resumen numérico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Condición A: 63.89% (n=6)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Condición B: 80.56% (n=6)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Condición C: 61.11% (n=6)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03865"/>
                </a:solidFill>
              </a:rPr>
              <a:t>RQ2 — Confianza (Unity, 1–7)</a:t>
            </a:r>
          </a:p>
        </p:txBody>
      </p:sp>
      <p:pic>
        <p:nvPicPr>
          <p:cNvPr id="3" name="Picture 2" descr="rq2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7315200" cy="46409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RQ2 — Confianza y cuestionarios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Condición A: 4.444 (n=6)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Condición B: 4.806 (n=6)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Condición C: 5.472 (n=6)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RAW-TLX y meCUE: ver exportaciones Forms en el informe.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03865"/>
                </a:solidFill>
              </a:rPr>
              <a:t>RQ3 — Brecha de calibración</a:t>
            </a:r>
          </a:p>
        </p:txBody>
      </p:sp>
      <p:pic>
        <p:nvPicPr>
          <p:cNvPr id="3" name="Picture 2" descr="rq3_calibratio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7315200" cy="4640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A6268"/>
                </a:solidFill>
              </a:defRPr>
            </a:pPr>
            <a:r>
              <a:t>Confianza normalizada − precisión del bloque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03865"/>
                </a:solidFill>
              </a:rPr>
              <a:t>Agente — HelpScore B vs C</a:t>
            </a:r>
          </a:p>
        </p:txBody>
      </p:sp>
      <p:pic>
        <p:nvPicPr>
          <p:cNvPr id="3" name="Picture 2" descr="chat_helpscore_b_v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7315200" cy="46551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03865"/>
                </a:solidFill>
              </a:rPr>
              <a:t>Agente — Intercambios de chat</a:t>
            </a:r>
          </a:p>
        </p:txBody>
      </p:sp>
      <p:pic>
        <p:nvPicPr>
          <p:cNvPr id="3" name="Picture 2" descr="chat_exchanges_b_v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7315200" cy="46596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Agente conversacional (B vs 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HelpScore: B=66.167 | C=74.5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Engagement: B=57.833 | C=64.5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ChatExchanges: B=4.167 | C=5.5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ModelLeaks: B=0.333 | C=0.167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Viabilidad técnica del piloto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Integridad CSV válida: 100.0%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Latencia Gemini ≤5 s (meta 90%): cumple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TTS condición C ≥85%: cumple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Filtraciones del modelo: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Conclusiones y 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Se documentó el procesamiento de datos de Unity y Forms en tablas reproducibles.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Las figuras adjuntas ilustran medias por condición para precisión, confianza y calibración.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Trabajo futuro: ampliar N, análisis cualitativo de entrevistas y refinamiento del agente.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Los resultados deben interpretarse como exploratorios dado el diseño piloto within-subjects.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Las diferencias entre condiciones A (sin agente), B (chat texto) y C (avatar + voz) se discuten en relación con las hipótesis H1–H3 y la carga cognitiva reportada en Forms.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865"/>
                </a:solidFill>
              </a:rP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PF-3311 — Agentes Virtuales Inteligentes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Ney Fred Jiménez Campos (B03230)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Datos y figuras: carpeta _analysis/ del pipeline principal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Documentos locales: informe PDF, artículo paper, esta presentación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